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5143500"/>
  <p:notesSz cx="51435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ClearPath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readiness engine + submission concierge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Indian digital health — India first, then global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1371600" cy="0"/>
          </a:xfrm>
          <a:prstGeom prst="line">
            <a:avLst/>
          </a:prstGeom>
          <a:noFill/>
          <a:ln w="25400">
            <a:solidFill>
              <a:srgbClr val="BA75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300" kern="0" dirty="0">
                <a:solidFill>
                  <a:srgbClr val="FA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 ·  Draft  ·  Submission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Dhritiman Mallick (Vyuhaa Med Data) · Bhaskar (Karnataka Medtech Cluster)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regulatory pain for Indian digital health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want to move fast. CDSCO doesn't. Consultants cost what a seed round can't afford.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12–24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filing to approval for Class C/D medical devices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55448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₹10–80L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75488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consultants + delays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typical healthtech MVP-to-submission journey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0" y="155448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0" y="2103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70–80%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868680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rejection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first-time submissions come back with gaps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don't get clarity until they've already spent months of runway.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· 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regulatory maze — 9 regulations, 6 bodies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different forms, timelines, and classification logic. Founders chase sign-offs across ministries.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09728" cy="82296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 MDR 2017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Health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611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508760"/>
            <a:ext cx="109728" cy="82296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600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 Pharmacy (D&amp;C Act 1940)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9659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Health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508760"/>
            <a:ext cx="3611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508760"/>
            <a:ext cx="109728" cy="8229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1600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19659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3611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468880"/>
            <a:ext cx="109728" cy="82296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560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ICMR AI Guidelines 2023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926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ICMR (Min. Health)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2468880"/>
            <a:ext cx="3611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2468880"/>
            <a:ext cx="109728" cy="8229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560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Consent Framework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926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Health Authority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2468880"/>
            <a:ext cx="3611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468880"/>
            <a:ext cx="109728" cy="8229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2560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NABH Digital Standards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2926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429000"/>
            <a:ext cx="3611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429000"/>
            <a:ext cx="109728" cy="82296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520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 Telemedicine Guidelines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3886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Medical Commission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89120" y="3429000"/>
            <a:ext cx="3611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0" y="3429000"/>
            <a:ext cx="109728" cy="822960"/>
          </a:xfrm>
          <a:prstGeom prst="rect">
            <a:avLst/>
          </a:prstGeom>
          <a:solidFill>
            <a:srgbClr val="5B2B8E"/>
          </a:solidFill>
          <a:ln w="12700">
            <a:solidFill>
              <a:srgbClr val="5B2B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520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 Regulations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63440" y="3886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Finance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0" y="3429000"/>
            <a:ext cx="3611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3429000"/>
            <a:ext cx="109728" cy="8229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0" y="35204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NABL Accreditation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03920" y="38862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Council of India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343400"/>
            <a:ext cx="11155680" cy="411480"/>
          </a:xfrm>
          <a:prstGeom prst="roundRect">
            <a:avLst>
              <a:gd name="adj" fmla="val 11111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343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product maps all 9. No consultant covers all 6 bodies. Every founder reinvents the journey.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· 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 — the rules just changed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converging windows in 2025–2026 create the opening.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Oct 2025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15361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 draft SaMD guidance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0" y="190195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Software-as-Medical-Device formally classified A/B/C/D. AI/ML triggers Algorithm Change Protocol. Products built before Oct 2025 may now be in scope they didn't design for.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Apr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5420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CDSCO-IndiaAI Health Innovation Hackathon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60320" y="290779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co-pilot for CDSCO evaluators. ₹10L prize + ₹50L contract for winner. Same engine, same core technology, bolted anonymisation module.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2026+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35478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enforcement phased 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0320" y="391363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processors at scale becoming Significant Data Fiduciaries. DPO, DPIA, independent audit obligations hardening across the digital health sector.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· 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insights that anchor the product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One-liners lie. Websites tell the truth.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describe themselves in investor-deck language: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"healthcare data platform"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"digital health infrastructure"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"analytics for clinicians"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scrape says: cancer screening, AI diagnosis, clinical decision. That's the regulatory reality.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18872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46520" y="2011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of platforms have hidden SaMD.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69748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calibration set of 14 Indian digital health products: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platforms where the core isn't a medical device, but a sub-feature is.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EkaScribe inside Eka Care. AI-CDS inside Intelehealth. Symptom checker inside Tata 1mg. NCD-screen guidance inside Khushi Baby.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founders didn't know. The CDSCO 2025 draft pulled them in.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· 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— what each tier delivers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commitment. Each stage earns the next.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FREE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4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Readiness Card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clarity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Any founder evaluating regulatory exposure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5786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Delivers: One-page decision card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Risk · High / Medium / 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0358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Readiness score · /10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2369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Likely CDSCO class (if applicable)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4381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Top 3 gaps to fix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6393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Time-to-approval estimate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Screenshot-worthy clarity. Know if you're in scope.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146304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57276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₹499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0" y="1783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124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Draft Pack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1031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minutes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23774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Founders preparing for CDSCO submission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25786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Delivers: Draft content + CDSCO mapping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2834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Structured application draft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30358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Section-wise content (intended use, risk, etc.)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32369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Checklist mapped to CDSCO forms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34381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Forms that apply (named list)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36393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Pathway + timeline estimate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40233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Submission-ready draft. Hand to consultant or file yourself.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29600" y="146304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157276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₹50K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1783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13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Submission Concierge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12480" y="21031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Expert-reviewed · 2–3 weeks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0" y="23774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Founders ready to file within 3 months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12480" y="25786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Delivers: Reviewed + refined submission pack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2834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Document refinement (expert pass)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412480" y="303580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Classification validation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0" y="32369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QMS checklist guidance (ISO 13485)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0" y="34381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Clinical validation plan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363931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Submission support + 1 iteration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40233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Submitted with confidence. First-pass rejection risk halved.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461772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form generator. A regulatory readiness engine + submission concierge.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· 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founder journey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uncertain to submission-ready. Six steps, fully self-serve until expert review.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0698480" cy="0"/>
          </a:xfrm>
          <a:prstGeom prst="line">
            <a:avLst/>
          </a:prstGeom>
          <a:noFill/>
          <a:ln w="25400">
            <a:solidFill>
              <a:srgbClr val="B4B2A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11480" y="2606040"/>
            <a:ext cx="640080" cy="640080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-18288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-1828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clearpath.in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51176" y="2606040"/>
            <a:ext cx="640080" cy="640080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51176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56816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56816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 + URL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90872" y="2606040"/>
            <a:ext cx="640080" cy="64008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96512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62272" y="146304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96512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30568" y="2606040"/>
            <a:ext cx="640080" cy="64008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36208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Pack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01968" y="146304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1968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36208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70264" y="2606040"/>
            <a:ext cx="640080" cy="640080"/>
          </a:xfrm>
          <a:prstGeom prst="ellipse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70264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75904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741664" y="146304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41664" y="1463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75904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109960" y="2606040"/>
            <a:ext cx="640080" cy="64008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10996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51560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51560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CDSCO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160520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2062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outcome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" y="44074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finds out in 5 minutes if CDSCO applies. Gets draft pack in 10 minutes. Ready to submit in 3 weeks. What used to take months of consultant back-and-forth compressed to one linear flow.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· 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dashboard — mission control for 9 regulations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Amazon-style progress tracking. Every stage · every deadline · every action, in one canonical view.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0700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20700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55848" y="118872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120700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6D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53128" y="120700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63056" y="118872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20700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3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260336" y="120700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70264" y="1188720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07424" y="120700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mo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067544" y="120700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full compliance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1874520"/>
            <a:ext cx="8321040" cy="347472"/>
          </a:xfrm>
          <a:prstGeom prst="roundRect">
            <a:avLst>
              <a:gd name="adj" fmla="val 13158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1874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CerviAI · Regulatory Progress Tracker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18745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66360" y="18745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852160" y="18745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37960" y="18745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0" y="1874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00" kern="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/ NEXT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2331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 MDR 2017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99432" y="2459736"/>
            <a:ext cx="576072" cy="0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2400300"/>
            <a:ext cx="118872" cy="118872"/>
          </a:xfrm>
          <a:prstGeom prst="ellipse">
            <a:avLst/>
          </a:prstGeom>
          <a:solidFill>
            <a:srgbClr val="3B6D11"/>
          </a:solidFill>
          <a:ln w="19050">
            <a:solidFill>
              <a:srgbClr val="3B6D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85232" y="2459736"/>
            <a:ext cx="576072" cy="0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66360" y="2400300"/>
            <a:ext cx="118872" cy="118872"/>
          </a:xfrm>
          <a:prstGeom prst="ellipse">
            <a:avLst/>
          </a:prstGeom>
          <a:solidFill>
            <a:srgbClr val="3B6D11"/>
          </a:solidFill>
          <a:ln w="19050">
            <a:solidFill>
              <a:srgbClr val="3B6D1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71032" y="2459736"/>
            <a:ext cx="576072" cy="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0" y="2400300"/>
            <a:ext cx="118872" cy="118872"/>
          </a:xfrm>
          <a:prstGeom prst="ellipse">
            <a:avLst/>
          </a:prstGeom>
          <a:solidFill>
            <a:srgbClr val="BA7517"/>
          </a:solidFill>
          <a:ln w="19050">
            <a:solidFill>
              <a:srgbClr val="BA75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2400300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B2A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23317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Deficiency received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2587752"/>
            <a:ext cx="8321040" cy="256032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2587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 Pharmacy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26280" y="2715768"/>
            <a:ext cx="2651760" cy="0"/>
          </a:xfrm>
          <a:prstGeom prst="line">
            <a:avLst/>
          </a:prstGeom>
          <a:noFill/>
          <a:ln w="12700">
            <a:solidFill>
              <a:srgbClr val="B4B2A9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7315200" y="2587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1520" y="2843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99432" y="2971800"/>
            <a:ext cx="576072" cy="0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80560" y="2912364"/>
            <a:ext cx="118872" cy="118872"/>
          </a:xfrm>
          <a:prstGeom prst="ellipse">
            <a:avLst/>
          </a:prstGeom>
          <a:solidFill>
            <a:srgbClr val="3B6D11"/>
          </a:solidFill>
          <a:ln w="19050">
            <a:solidFill>
              <a:srgbClr val="3B6D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85232" y="2971800"/>
            <a:ext cx="576072" cy="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2912364"/>
            <a:ext cx="118872" cy="118872"/>
          </a:xfrm>
          <a:prstGeom prst="ellipse">
            <a:avLst/>
          </a:prstGeom>
          <a:solidFill>
            <a:srgbClr val="BA7517"/>
          </a:solidFill>
          <a:ln w="19050">
            <a:solidFill>
              <a:srgbClr val="BA751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71032" y="2971800"/>
            <a:ext cx="576072" cy="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52160" y="2912364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B2A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37960" y="2912364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B2A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284378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8640" y="3099816"/>
            <a:ext cx="8321040" cy="256032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3099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ICMR AI Guidelines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99432" y="3227832"/>
            <a:ext cx="576072" cy="0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80560" y="3168396"/>
            <a:ext cx="118872" cy="118872"/>
          </a:xfrm>
          <a:prstGeom prst="ellipse">
            <a:avLst/>
          </a:prstGeom>
          <a:solidFill>
            <a:srgbClr val="3B6D11"/>
          </a:solidFill>
          <a:ln w="19050">
            <a:solidFill>
              <a:srgbClr val="3B6D1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85232" y="3227832"/>
            <a:ext cx="576072" cy="0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66360" y="3168396"/>
            <a:ext cx="118872" cy="118872"/>
          </a:xfrm>
          <a:prstGeom prst="ellipse">
            <a:avLst/>
          </a:prstGeom>
          <a:solidFill>
            <a:srgbClr val="3B6D11"/>
          </a:solidFill>
          <a:ln w="19050">
            <a:solidFill>
              <a:srgbClr val="3B6D1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71032" y="3227832"/>
            <a:ext cx="576072" cy="0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52160" y="3168396"/>
            <a:ext cx="118872" cy="118872"/>
          </a:xfrm>
          <a:prstGeom prst="ellipse">
            <a:avLst/>
          </a:prstGeom>
          <a:solidFill>
            <a:srgbClr val="3B6D11"/>
          </a:solidFill>
          <a:ln w="19050">
            <a:solidFill>
              <a:srgbClr val="3B6D1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37960" y="3168396"/>
            <a:ext cx="118872" cy="118872"/>
          </a:xfrm>
          <a:prstGeom prst="ellipse">
            <a:avLst/>
          </a:prstGeom>
          <a:solidFill>
            <a:srgbClr val="3B6D11"/>
          </a:solidFill>
          <a:ln w="19050">
            <a:solidFill>
              <a:srgbClr val="3B6D1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0" y="309981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approval ✓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31520" y="3355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Consent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26280" y="3483864"/>
            <a:ext cx="2651760" cy="0"/>
          </a:xfrm>
          <a:prstGeom prst="line">
            <a:avLst/>
          </a:prstGeom>
          <a:noFill/>
          <a:ln w="12700">
            <a:solidFill>
              <a:srgbClr val="B4B2A9"/>
            </a:solidFill>
            <a:prstDash val="dash"/>
          </a:ln>
        </p:spPr>
      </p:sp>
      <p:sp>
        <p:nvSpPr>
          <p:cNvPr id="57" name="Text 55"/>
          <p:cNvSpPr/>
          <p:nvPr/>
        </p:nvSpPr>
        <p:spPr>
          <a:xfrm>
            <a:off x="7315200" y="33558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integrated (D2C)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48640" y="3611880"/>
            <a:ext cx="8321040" cy="256032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3611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NABH Digital Std.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99432" y="3739896"/>
            <a:ext cx="576072" cy="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80560" y="3680460"/>
            <a:ext cx="118872" cy="118872"/>
          </a:xfrm>
          <a:prstGeom prst="ellipse">
            <a:avLst/>
          </a:prstGeom>
          <a:solidFill>
            <a:srgbClr val="BA7517"/>
          </a:solidFill>
          <a:ln w="19050">
            <a:solidFill>
              <a:srgbClr val="BA751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85232" y="3739896"/>
            <a:ext cx="576072" cy="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66360" y="3680460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B2A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971032" y="3739896"/>
            <a:ext cx="576072" cy="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52160" y="3680460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B2A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37960" y="3680460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4B2A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0" y="36118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31520" y="3867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 Telemedicine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26280" y="3995928"/>
            <a:ext cx="2651760" cy="0"/>
          </a:xfrm>
          <a:prstGeom prst="line">
            <a:avLst/>
          </a:prstGeom>
          <a:noFill/>
          <a:ln w="12700">
            <a:solidFill>
              <a:srgbClr val="B4B2A9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7315200" y="38679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48640" y="4123944"/>
            <a:ext cx="8321040" cy="256032"/>
          </a:xfrm>
          <a:prstGeom prst="rect">
            <a:avLst/>
          </a:prstGeom>
          <a:solidFill>
            <a:srgbClr val="FAFAF7"/>
          </a:solidFill>
          <a:ln w="12700">
            <a:solidFill>
              <a:srgbClr val="FAFAF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" y="4123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IRDAI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26280" y="4251960"/>
            <a:ext cx="2651760" cy="0"/>
          </a:xfrm>
          <a:prstGeom prst="line">
            <a:avLst/>
          </a:prstGeom>
          <a:noFill/>
          <a:ln w="12700">
            <a:solidFill>
              <a:srgbClr val="B4B2A9"/>
            </a:solidFill>
            <a:prstDash val="dash"/>
          </a:ln>
        </p:spPr>
      </p:sp>
      <p:sp>
        <p:nvSpPr>
          <p:cNvPr id="74" name="Text 72"/>
          <p:cNvSpPr/>
          <p:nvPr/>
        </p:nvSpPr>
        <p:spPr>
          <a:xfrm>
            <a:off x="7315200" y="41239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31520" y="4379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NABL Accreditation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599432" y="4507992"/>
            <a:ext cx="576072" cy="0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480560" y="4448556"/>
            <a:ext cx="118872" cy="118872"/>
          </a:xfrm>
          <a:prstGeom prst="ellipse">
            <a:avLst/>
          </a:prstGeom>
          <a:solidFill>
            <a:srgbClr val="3B6D11"/>
          </a:solidFill>
          <a:ln w="19050">
            <a:solidFill>
              <a:srgbClr val="3B6D1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85232" y="4507992"/>
            <a:ext cx="576072" cy="0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166360" y="4448556"/>
            <a:ext cx="118872" cy="118872"/>
          </a:xfrm>
          <a:prstGeom prst="ellipse">
            <a:avLst/>
          </a:prstGeom>
          <a:solidFill>
            <a:srgbClr val="3B6D11"/>
          </a:solidFill>
          <a:ln w="19050">
            <a:solidFill>
              <a:srgbClr val="3B6D1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971032" y="4507992"/>
            <a:ext cx="576072" cy="0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852160" y="4448556"/>
            <a:ext cx="118872" cy="118872"/>
          </a:xfrm>
          <a:prstGeom prst="ellipse">
            <a:avLst/>
          </a:prstGeom>
          <a:solidFill>
            <a:srgbClr val="3B6D11"/>
          </a:solidFill>
          <a:ln w="19050">
            <a:solidFill>
              <a:srgbClr val="3B6D1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37960" y="4448556"/>
            <a:ext cx="118872" cy="118872"/>
          </a:xfrm>
          <a:prstGeom prst="ellipse">
            <a:avLst/>
          </a:prstGeom>
          <a:solidFill>
            <a:srgbClr val="3B6D11"/>
          </a:solidFill>
          <a:ln w="19050">
            <a:solidFill>
              <a:srgbClr val="3B6D1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15200" y="43799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lab ✓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9052560" y="187452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189720" y="20116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THIS WEEK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9189720" y="23317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15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9189720" y="2514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CDSCO deficiency letter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189720" y="30175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18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9189720" y="3200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 DPO for DPDP compliance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9189720" y="37033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9189720" y="3886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NABH assessor visit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· 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free output — a decision card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Screenshot-worthy, under 10 seconds to understand. Example: EkaScribe.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94360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RISK PROFILE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EkaScribe (of Eka Care)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clinical documentation + prescription drafting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960120" cy="960120"/>
          </a:xfrm>
          <a:prstGeom prst="ellipse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974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38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2514600"/>
            <a:ext cx="2148840" cy="274320"/>
          </a:xfrm>
          <a:prstGeom prst="roundRect">
            <a:avLst>
              <a:gd name="adj" fmla="val 10000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0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High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60520" y="2514600"/>
            <a:ext cx="2148840" cy="274320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MD?: Feature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2880360"/>
            <a:ext cx="2148840" cy="274320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B/C (AI-CDS, scoped)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60520" y="2880360"/>
            <a:ext cx="2148840" cy="274320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9–14 months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56616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7947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SaMD under CDSCO's evolving 2025 draft. Prescription drafting may influence treatment decisions — this is where the feature crosses into regulation.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1463040"/>
            <a:ext cx="4846320" cy="3291840"/>
          </a:xfrm>
          <a:prstGeom prst="roundRect">
            <a:avLst>
              <a:gd name="adj" fmla="val 2778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645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language — by design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1993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sound more certain than the regulator.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2377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Class B/C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2697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likely required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95160" y="3017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SaMD pathway evolving · forms TBD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95160" y="3337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qualify as SDF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95160" y="37490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founders trust softer language more than fake confidence. Consultants sound certain. We sound honest. Readiness and Risk are separate metrics.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· 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engine works — inside the box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· Each one is a decision point that a consultant would charge ₹30–50K for.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Pre-route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vs platform vs regulator vs investor. Rejects ABDM + Rainmatter politely.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645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 + scrape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founder's pitch. Scrape their site. Surface conflicts when they disagree.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50876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645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21945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platform, identify sub-features that may have different treatment. User picks scope.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7-Q wizard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703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state × information significance → IMDRF category → CDSCO class.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01752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regulations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703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 MDR + CDSCO Pharmacy + DPDP + ICMR + ABDM + NABH + MCI Telemed + IRDAI + NABL.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301752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0" y="3703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/ risk / class / timeline / top 3 gaps / CTA. Screenshot-worthy output.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· 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 across three archetypes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products. Real regulatory profiles. Real value differentiation.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0" cy="3154680"/>
          </a:xfrm>
          <a:prstGeom prst="roundRect">
            <a:avLst>
              <a:gd name="adj" fmla="val 2899"/>
            </a:avLst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MEDICAL DEVICE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Vyuhaa / CerviAI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· Class C (IVD-SaMD)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3200400" cy="0"/>
          </a:xfrm>
          <a:prstGeom prst="line">
            <a:avLst/>
          </a:prstGeom>
          <a:noFill/>
          <a:ln w="9525">
            <a:solidFill>
              <a:srgbClr val="993C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9748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 said 'healthcare data platform.' Website said cancer screening. The scrape surfaced the real classification. MD-12 filed; ongoing path to MD-9.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463040"/>
            <a:ext cx="3657600" cy="3154680"/>
          </a:xfrm>
          <a:prstGeom prst="roundRect">
            <a:avLst>
              <a:gd name="adj" fmla="val 2899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SUB-FEATURE SAMD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0916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EkaScribe (of Eka Care)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916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· Class B/C (AI-CDS, scoped)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606040"/>
            <a:ext cx="3200400" cy="0"/>
          </a:xfrm>
          <a:prstGeom prst="line">
            <a:avLst/>
          </a:prstGeom>
          <a:noFill/>
          <a:ln w="9525">
            <a:solidFill>
              <a:srgbClr val="BA75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9748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 Care platform isn't a medical device. EkaScribe drafts prescriptions — that feature likely is. Launched Sep 2025, CDSCO SaMD guidance came Oct 2025. Transition scenario.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0" y="1463040"/>
            <a:ext cx="3657600" cy="3154680"/>
          </a:xfrm>
          <a:prstGeom prst="roundRect">
            <a:avLst>
              <a:gd name="adj" fmla="val 2899"/>
            </a:avLst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N/A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4108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HealthifyMe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4108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· Class N/A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41080" y="2606040"/>
            <a:ext cx="3200400" cy="0"/>
          </a:xfrm>
          <a:prstGeom prst="line">
            <a:avLst/>
          </a:prstGeom>
          <a:noFill/>
          <a:ln w="9525">
            <a:solidFill>
              <a:srgbClr val="3B6D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269748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app. CDSCO doesn't apply. Main obligation is DPDP at scale. The ₹499 clarity worth it — saves a founder the ₹3L consultant bill to get told 'you're fine.'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· 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ClearPath wins — 5 moats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reasons a generalist LLM or a consultant's website can't replicate this.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" cy="32004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508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15+ real products, validated with experts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764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on 15 real Indian healthtechs — CerviAI filings, EkaScribe, Neodocs, Niramai, Forus, plus Karnataka Medtech Cluster network review.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320040" cy="32004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1305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Founder-first UX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38658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Consultants sell complexity. We sell clarity. Different incentives, different product.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98064"/>
            <a:ext cx="320040" cy="32004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980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75234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× digital health intersection — 9 regs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00837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 MDR + Pharmacy, DPDP, ICMR, ABDM, NABH, MCI, IRDAI, NABL. Not solved anywhere today.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19856"/>
            <a:ext cx="320040" cy="32004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198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3741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regulatory intelligence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6301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we run improves the next. CDSCO precedent, class patterns, approval timelines build up into a data moat.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41648"/>
            <a:ext cx="320040" cy="32004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41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9959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Expert-in-loop concierge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251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leverages 20–30 regulatory experts. Software can't fully replace human review at ₹50K value. Network is the defensibility.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· 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play — law firms as distribution partners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firms are customers, not competitors. 50+ life sciences firms in India, 500+ globally.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associate productivity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hours of regulatory research compressed to 30 minutes. Firm margins improve on fixed-fee matters.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554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intake qualification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run ClearPath first, then quote. No wasted partner time on exploratory calls with misqualified leads.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71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White-labelled first-pass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deliver ClearPath output under their own brand as part of retainer deliverables.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283464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EDE5F5"/>
          </a:solidFill>
          <a:ln w="12700">
            <a:solidFill>
              <a:srgbClr val="EDE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971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training accelerator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3375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associates learn Indian regulation landscape faster by using ClearPath as a live reference.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141732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5544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0" y="1828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₹5–10L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41248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firm, per year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Seat-based licensing. Volume discount after 10 associates.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2480" y="3246120"/>
            <a:ext cx="3108960" cy="0"/>
          </a:xfrm>
          <a:prstGeom prst="line">
            <a:avLst/>
          </a:prstGeom>
          <a:noFill/>
          <a:ln w="6350">
            <a:solidFill>
              <a:srgbClr val="E1F5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337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A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PROJECTION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firms × ₹7L = ₹1.4 Cr ARR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to direct-to-founder revenue. High-margin, low-churn.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7406640" cy="457200"/>
          </a:xfrm>
          <a:prstGeom prst="roundRect">
            <a:avLst>
              <a:gd name="adj" fmla="val 10000"/>
            </a:avLst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97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targets:  Nishith Desai · Khaitan &amp; Co · AZB &amp; Partners · Cyril Amarchand · Trilegal · Luthra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· 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math — unit economics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conversion · Tier 2 drives volume · Tier 3 drives revenue.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landing visitors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0" cy="502920"/>
          </a:xfrm>
          <a:prstGeom prst="roundRect">
            <a:avLst>
              <a:gd name="adj" fmla="val 7273"/>
            </a:avLst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37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clearpath.in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57800" y="17373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377440"/>
            <a:ext cx="4389120" cy="502920"/>
          </a:xfrm>
          <a:prstGeom prst="roundRect">
            <a:avLst>
              <a:gd name="adj" fmla="val 7273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377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free Readiness Card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23774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889504"/>
            <a:ext cx="5486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signup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45920" y="3017520"/>
            <a:ext cx="3291840" cy="502920"/>
          </a:xfrm>
          <a:prstGeom prst="roundRect">
            <a:avLst>
              <a:gd name="adj" fmla="val 7273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19072" y="3017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Tier 2 · ₹499 Draft Pack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60520" y="301752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529584"/>
            <a:ext cx="5486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signups · ₹4,000 rev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94560" y="3657600"/>
            <a:ext cx="2194560" cy="502920"/>
          </a:xfrm>
          <a:prstGeom prst="roundRect">
            <a:avLst>
              <a:gd name="adj" fmla="val 7273"/>
            </a:avLst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₹50K Concierge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11880" y="36576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169664"/>
            <a:ext cx="5486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of Tier 2 · ₹50,000 rev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43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100 visitors · ₹54,000 · ≈ ₹540 per visitor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1371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revenue trajectory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17190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89520" y="1719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69680" y="1719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ACV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32720" y="1719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0" y="2011680"/>
            <a:ext cx="5257800" cy="0"/>
          </a:xfrm>
          <a:prstGeom prst="line">
            <a:avLst/>
          </a:prstGeom>
          <a:noFill/>
          <a:ln w="6350">
            <a:solidFill>
              <a:srgbClr val="B4B2A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057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8952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86968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 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33272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 Cr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00800" y="2514600"/>
            <a:ext cx="5257800" cy="0"/>
          </a:xfrm>
          <a:prstGeom prst="line">
            <a:avLst/>
          </a:prstGeom>
          <a:noFill/>
          <a:ln w="6350">
            <a:solidFill>
              <a:srgbClr val="B4B2A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560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8952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6968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 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33272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₹12 Cr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400800" y="3017520"/>
            <a:ext cx="5257800" cy="0"/>
          </a:xfrm>
          <a:prstGeom prst="line">
            <a:avLst/>
          </a:prstGeom>
          <a:noFill/>
          <a:ln w="6350">
            <a:solidFill>
              <a:srgbClr val="B4B2A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063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58952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869680" y="3063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 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332720" y="3063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₹36 Cr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400800" y="384048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3931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Tier 3 matters for Year 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83680" y="4160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ACV = ~₹1L. 60% comes from Tier 3 concierge. Tier 2 builds pipeline; Tier 3 is the ARR engine. Volume grows as engine improves + expert network scales.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· 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 — deeper than DPIIT numbers suggest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Tracxn 2026: 14,000 healthtech companies in India. 6 unicorns. 304 Series A+. 131 acquisitions. 16 IPOs.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14,000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companies in India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Tracxn 2026 · all stages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08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3,500+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buildable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+ regulated bootstrapped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657600" cy="1188720"/>
          </a:xfrm>
          <a:prstGeom prst="roundRect">
            <a:avLst>
              <a:gd name="adj" fmla="val 6154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508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~3,800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41248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healthcare startups / year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 FY26 pipeline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channels — already built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BIRAC-funded bioincubators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BioNEST + E-YUVA across 25 states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9000" y="320040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72+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61188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 Incubation Centres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₹10 Cr grant each, health subset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320040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9224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/ NIDHI TBIs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CCAMP, IKP, Villgro, SID-IISc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89720" y="3200400"/>
            <a:ext cx="2697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7260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37260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school innovation cells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72600" y="3822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AIIMS, PGIMER, CMC Vellore, IITs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4160520"/>
            <a:ext cx="11155680" cy="411480"/>
          </a:xfrm>
          <a:prstGeom prst="roundRect">
            <a:avLst>
              <a:gd name="adj" fmla="val 11111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1605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~14K cos.  ·  SAM ~3,500 buildable  ·  SOM Y5: 1,200 customers → ₹30–50 Cr ARR  ·  Plus law firm B2B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617720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Tracxn HealthTech India 2026 · DPIIT Startup India FY26 · BIRAC (Medical Buyer Mar 2026) · Atal Innovation Mission NITI Aayog · DST NIDHI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· 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— markets, math, and partners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methodology: SAM = regulated digital-health companies · SOM = 30% capture by Year 5 of entry · ACV by market.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155680" cy="29260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057400" y="118872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88920" y="1188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89120" y="1188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Y5 (30%)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89320" y="1188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REVENUE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680960" y="1188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 (examples)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481328"/>
            <a:ext cx="11155680" cy="402336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481328"/>
            <a:ext cx="109728" cy="402336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48132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1481328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14813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 cos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14813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148132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₹30–50 Cr ($4–6M)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80960" y="148132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Medtech · BIRAC · Nishith Desai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1883664"/>
            <a:ext cx="109728" cy="402336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188366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57400" y="1883664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88920" y="188366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cos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188366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18836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$9M ARR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0" y="18836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Health · Emergo by UL · Goodwin Procter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2286000"/>
            <a:ext cx="11155680" cy="402336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2286000"/>
            <a:ext cx="109728" cy="402336"/>
          </a:xfrm>
          <a:prstGeom prst="rect">
            <a:avLst/>
          </a:prstGeom>
          <a:solidFill>
            <a:srgbClr val="5B2B8E"/>
          </a:solidFill>
          <a:ln w="12700">
            <a:solidFill>
              <a:srgbClr val="5B2B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228600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057400" y="228600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88920" y="22860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cos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0" y="22860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89320" y="22860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2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$4.5M ARR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80960" y="22860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 Health · TÜV SÜD · Bird &amp; Bird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2688336"/>
            <a:ext cx="109728" cy="402336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268833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057400" y="268833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88920" y="268833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cos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0" y="268833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89320" y="268833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$0.7M ARR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80960" y="268833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Innov. Accelerator · Digital Health London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3090672"/>
            <a:ext cx="11155680" cy="402336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3090672"/>
            <a:ext cx="109728" cy="402336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309067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057400" y="309067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88920" y="30906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cos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389120" y="30906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89320" y="30906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 ARR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680960" y="309067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PMDA-adjacent · Nishimura &amp; Asahi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8640" y="3584448"/>
            <a:ext cx="11155680" cy="411480"/>
          </a:xfrm>
          <a:prstGeom prst="roundRect">
            <a:avLst>
              <a:gd name="adj" fmla="val 11111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35844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combined ARR (direct):  ~$20M  +  ₹5–10 Cr law firm B2B  +  Global South expansion 2028+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" y="4087368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Tracxn HealthTech India 2026 · Fortune Business Insights Digital Health 2026 · HTF Medical Device Regulatory Consulting 2024 · FDA Digital Health Center 2025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· 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partner who lives the pain. A distribution partner who reaches the market.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200400"/>
          </a:xfrm>
          <a:prstGeom prst="roundRect">
            <a:avLst>
              <a:gd name="adj" fmla="val 285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DHRITIMAN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Vyuhaa Med Data · Design partner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Become first design partner — validate ClearPath against PlacentaNet 2026 filing in progress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8437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Use CerviAI July 2024 filing as canonical case study (with attribution)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3558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Co-authored case note on AI-SaMD pathway navigation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8679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Introductions to 5–10 Indian AI-health founders in your network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463040"/>
            <a:ext cx="5440680" cy="3200400"/>
          </a:xfrm>
          <a:prstGeom prst="roundRect">
            <a:avLst>
              <a:gd name="adj" fmla="val 2857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BHASKAR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Karnataka Medtech Cluster · Distribution partner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331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Introduce 5–10 cluster member startups for pilot readiness cards (free tier)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8437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Let cluster co-host a 'CDSCO 2025 SaMD rules' webinar we run for members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3558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Early-access pricing for cluster members on Regulatory Draft Pack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8679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Distribution partnership on the Submission Concierge tier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800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· 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30 days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milestones. Fast feedback loops.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25–27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06040" y="16733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GrowthX AI Weekender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06040" y="1965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Tiers 1 + 2 · launch landing page · target 20 free cards, 3 ₹499 conversions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28–30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23591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CDSCO-IndiaAI submission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06040" y="2651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co-pilot version · anonymisation module · co-submit with Vyuhaa as DPIIT entity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1–15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30449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 onboarding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06040" y="3337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Vyuhaa PlacentaNet 2026 case · 5–10 Karnataka cluster pilots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16–25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37307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concierge launch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606040" y="4023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review panel · first 3 paying ₹50K customers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371600" cy="0"/>
          </a:xfrm>
          <a:prstGeom prst="line">
            <a:avLst/>
          </a:prstGeom>
          <a:noFill/>
          <a:ln w="25400">
            <a:solidFill>
              <a:srgbClr val="BA75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300" kern="0" dirty="0">
                <a:solidFill>
                  <a:srgbClr val="FA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 ·  Draft  ·  Submission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ClearPath — Regulatory readiness engine</dc:title>
  <dc:subject>PptxGenJS Presentation</dc:subject>
  <dc:creator>ClearPath</dc:creator>
  <cp:lastModifiedBy>ClearPath</cp:lastModifiedBy>
  <cp:revision>1</cp:revision>
  <dcterms:created xsi:type="dcterms:W3CDTF">2026-04-24T10:01:07Z</dcterms:created>
  <dcterms:modified xsi:type="dcterms:W3CDTF">2026-04-24T10:01:07Z</dcterms:modified>
</cp:coreProperties>
</file>